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PROPOSAL / NOT DEPLOYED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 18-30 and private-parking setting are strategic choices, not measured local prevalence.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MoRTH data via inspected OpenCity table records and Hindustan Times, 12 June 2026. Same underlying dataset; original ministry table cells not directly inspected. Not proof nonuse caused every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Mishra et al., 2025; data March-December 2021. Hospital sample, not national/Mumbai prevalence. Association, not causation. PMC12020946 / DOI 10.4103/ijciis.ijciis_85_24.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hypothesis, not a participant quote. Local reasons for nonuse remain to be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helmet use reduces risk, not all risk. WHO road-traffic fact sheet, 20 July 2026; PIB helmet guidance, 12 July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 precedent: HDFC Bank / STUDDS, The Helmet Receipt, reported February 2026. No claim of exhaustive originality clearance.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Opt-in, permissioned, supervised placement only. No adhesive or vehicle alteration. Stop if safe collection cannot be assured.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 A6 artwork supplied as PDF, SVG and PNG. Supervised prototype; remove before mounting.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Illustrated placement mockup, not a photograph or evidence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certification marks, police styling, sponsor logo, crash imagery or claim of guaranteed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 motion prototype and vertical artwork supplied. Not live-action footage or a claimed platform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partner, venue access, participant consent or filming is claimed to have been secured.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assumptions, not vendor quotes. Excludes labour, travel, permissions, tax changes and helmet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tests conducted. Threshold is an operational design gate, not a validated benchmark. Any safety concern triggers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only. Do not report invented lifts, audience quotes, crash reductions or long-term effectiveness.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Dates as supplied in the assignment brief; brief specifies no year. Actual fieldwork, permissions and outcomes remain unclaimed.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URLs and claim limits in CAMPAIGN_REPORT and the research ledger. Sources accessed 14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SEAT HAS A HEAD. / STUDENT DESIGN SUBMISSION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DEEF54"/>
                </a:solidFill>
                <a:latin typeface="Arial"/>
              </a:defRPr>
            </a:pPr>
            <a:r>
              <a:t>ADVERTISING 2 / CRAFTING FOR A SOCIAL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66751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300" b="1">
                <a:solidFill>
                  <a:srgbClr val="F2F0E5"/>
                </a:solidFill>
                <a:latin typeface="Arial"/>
              </a:defRPr>
            </a:pPr>
            <a:r>
              <a:t>THIS SEAT</a:t>
            </a:r>
          </a:p>
          <a:p>
            <a:pPr>
              <a:spcAft>
                <a:spcPts val="100"/>
              </a:spcAft>
              <a:defRPr sz="4300" b="1">
                <a:solidFill>
                  <a:srgbClr val="F2F0E5"/>
                </a:solidFill>
                <a:latin typeface="Arial"/>
              </a:defRPr>
            </a:pPr>
            <a:r>
              <a:t>HAS A 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The overlooked second rider.</a:t>
            </a:r>
          </a:p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A campaign on the seat they are about to occupy.</a:t>
            </a:r>
          </a:p>
        </p:txBody>
      </p:sp>
      <p:pic>
        <p:nvPicPr>
          <p:cNvPr id="5" name="Picture 4" descr="seat_card_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36034"/>
            <a:ext cx="4023360" cy="2854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F2F0E5"/>
                </a:solidFill>
                <a:latin typeface="Arial"/>
              </a:defRPr>
            </a:pPr>
            <a:r>
              <a:t>DESIGN PROPOSAL / NOT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01 / NARROW THE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The person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on the second seat.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Cause: pillion helmet use on everyday shared journeys.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Focus: adult driver-pillion pairs, stationary before departure.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Not a new product, app, rental scheme or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Age 18-30 and private-parking setting are strategic choices, not measured local prevalence.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02 / NATIONAL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14,652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883664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Passenger fatalities recorded in the non-wearing-of-helmet category in India, 2024.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54,122 total fatalities in that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MoRTH data via inspected OpenCity table records and Hindustan Times, 12 June 2026. Same underlying dataset; original ministry table cells not directly inspected. Not proof nonuse caused every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03 / THE BEHAVIOURAL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Knowing is not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always doing.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346 adult crash patients in one eastern-India hospital sample.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96.6% agreed helmets were essential; 35.7% had used one.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Short-distance travel and forgetfulness were associated with nonuse.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Mishra et al., 2025; data March-December 2021. Hospital sample, not national/Mumbai prevalence. Association, not causation. PMC12020946 / DOI 10.4103/ijciis.ijciis_85_24.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04 / AUDIENCE AND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Make the second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person 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Audience: adult student / early-career driver-pillion pairs.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Hypothesis: on an ordinary shared ride, the second seat can become an afterthought.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Put the reminder where the second person is about to 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Creative hypothesis, not a participant quote. Local reasons for nonuse remain to be tested.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05 / SINGLE-MINDED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Their own helmet.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Before the ride.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Proposition: the second person needs their own helmet too.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Action: both helmets on; both chinstraps fastened.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Tone: direct, considerate, no blame or simulated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Correct helmet use reduces risk, not all risk. WHO road-traffic fact sheet, 20 July 2026; PIB helmet guidance, 12 July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06 / THREE MEDIA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Three routes.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One campaign.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01 SECOND-SEAT MESSAGE - selected: seat is the placement.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02 TWO-PERSON PARKING SLIP - rejected: close receipt precedent.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03 PLUS-ONE RIDE INVITE - reserve: before-ride social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Receipt precedent: HDFC Bank / STUDDS, The Helmet Receipt, reported February 2026. No claim of exhaustive originality clearance.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07 / THE SELECTED MEDIA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The seat supplies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the meaning.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An A6 card rests on the stationary pillion seat.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It addresses the passenger at the mounting decision.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No scan. No sign-up. No new service.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Facilitator removes it before anyone mounts.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Opt-in, permissioned, supervised placement only. No adhesive or vehicle alteration. Stop if safe collection cannot be assured.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DEEF54"/>
                </a:solidFill>
                <a:latin typeface="Arial"/>
              </a:defRPr>
            </a:pPr>
            <a:r>
              <a:t>08 / HERO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66751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300" b="1">
                <a:solidFill>
                  <a:srgbClr val="F2F0E5"/>
                </a:solidFill>
                <a:latin typeface="Arial"/>
              </a:defRPr>
            </a:pPr>
            <a:r>
              <a:t>THIS SEAT</a:t>
            </a:r>
          </a:p>
          <a:p>
            <a:pPr>
              <a:spcAft>
                <a:spcPts val="100"/>
              </a:spcAft>
              <a:defRPr sz="4300" b="1">
                <a:solidFill>
                  <a:srgbClr val="F2F0E5"/>
                </a:solidFill>
                <a:latin typeface="Arial"/>
              </a:defRPr>
            </a:pPr>
            <a:r>
              <a:t>HAS A 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YOURS.</a:t>
            </a:r>
          </a:p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Pillion passengers need a helmet too.</a:t>
            </a:r>
          </a:p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Put on and fasten your helmet before you ride.</a:t>
            </a:r>
          </a:p>
        </p:txBody>
      </p:sp>
      <p:pic>
        <p:nvPicPr>
          <p:cNvPr id="5" name="Picture 4" descr="seat_card_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36034"/>
            <a:ext cx="4023360" cy="28544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F2F0E5"/>
                </a:solidFill>
                <a:latin typeface="Arial"/>
              </a:defRPr>
            </a:pPr>
            <a:r>
              <a:t>Finished A6 artwork supplied as PDF, SVG and PNG. Supervised prototype; remove before mounting.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09 / CONTEXT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66751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Where the second</a:t>
            </a:r>
          </a:p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person is about to sit.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 parked vehicle. Engine off. Adult participants opt in.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Message placed briefly on the rear seat.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Card collected and accounted for before mounting.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023360" cy="31471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Illustrated placement mockup, not a photograph or evidence of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10 / ONE VISUAL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66751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Two seats.</a:t>
            </a:r>
          </a:p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Two helmets.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Equal-scale helmet symbols. One clear instruction.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Deep green + warm ivory + signal yellow-green.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Supporting poster reinforces the pre-ride check.</a:t>
            </a:r>
          </a:p>
        </p:txBody>
      </p:sp>
      <p:pic>
        <p:nvPicPr>
          <p:cNvPr id="5" name="Picture 4" descr="poster_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884" y="1005840"/>
            <a:ext cx="2909751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No certification marks, police styling, sponsor logo, crash imagery or claim of guaranteed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11 / DIGITAL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66751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Who's on your</a:t>
            </a:r>
          </a:p>
          <a:p>
            <a:pPr>
              <a:spcAft>
                <a:spcPts val="100"/>
              </a:spcAft>
              <a:defRPr sz="4300" b="1">
                <a:solidFill>
                  <a:srgbClr val="172C28"/>
                </a:solidFill>
                <a:latin typeface="Arial"/>
              </a:defRPr>
            </a:pPr>
            <a:r>
              <a:t>second seat?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 captioned 15-second illustrated sequence.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One bike / two people / two helmets / both fastened.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Check before the ride, never while riding.</a:t>
            </a:r>
          </a:p>
        </p:txBody>
      </p:sp>
      <p:pic>
        <p:nvPicPr>
          <p:cNvPr id="5" name="Picture 4" descr="social_story_1080x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472" y="1005840"/>
            <a:ext cx="231457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HTML motion prototype and vertical artwork supplied. Not live-action footage or a claimed platform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12 /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Small enough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to demonstrate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12 reusable A6 cards + 2 A3 posters.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Permissioned stationary encounter; no unattended placement.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No helmet or vehicle attachments.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No permission? Use the illustrated demonstration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No partner, venue access, participant consent or filming is claimed to have been secured.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13 /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INR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883664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Cards 180 / Posters 160 / Proofs 160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Consent and tally sheets 50 / Contingency 150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Uses existing print media and a supervised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Planning assumptions, not vendor quotes. Excludes labour, travel, permissions, tax changes and helmet purchase.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14 / VALIDATION, NOT INVENTED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Did the message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actually arrive?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Proposed comprehension test: 12 consenting adults.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Proposed revision gate: 10 identify passenger helmet use + fastening before departure.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Ask openly about meaning, tone, timing and confusion.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No tests conducted. Threshold is an operational design gate, not a validated benchmark. Any safety concern triggers revision.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15 / EVALUATION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Measure the check.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Do not promise lives saved.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Optional pilot: aggregate observations of paired departures.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Record both helmets, visible straps and unknown observations.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No plates, faces, names or equipment-certification claims.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An uncontrolled small pilot cannot establish causality.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Plan only. Do not report invented lifts, audience quotes, crash reductions or long-term effectiveness.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16 / PROJECT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From evidence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to one clear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14 OCT - cause, research / insight, three concepts.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21 OCT - design WIP and feasible comprehension work.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27 OCT - campaign submission.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28 OCT - presentation and final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Dates as supplied in the assignment brief; brief specifies no year. Actual fieldwork, permissions and outcomes remain unclaimed.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87167"/>
                </a:solidFill>
                <a:latin typeface="Arial"/>
              </a:defRPr>
            </a:pPr>
            <a:r>
              <a:t>17 / RESEARCH AND PRECEDENT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Traceable facts.</a:t>
            </a:r>
          </a:p>
          <a:p>
            <a:pPr>
              <a:spcAft>
                <a:spcPts val="100"/>
              </a:spcAft>
              <a:defRPr sz="4900" b="1">
                <a:solidFill>
                  <a:srgbClr val="172C28"/>
                </a:solidFill>
                <a:latin typeface="Arial"/>
              </a:defRPr>
            </a:pPr>
            <a:r>
              <a:t>Honest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487168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Mishra et al., 2025 / PMC12020946 / primary hospital study.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MoRTH 2024 data / reproduced OpenCity table + HT reporting.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WHO, Road traffic injuries / updated 20 July 2026.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PIB, Helmet - More Than Just a Shell / 12 July 2025.</a:t>
            </a:r>
          </a:p>
          <a:p>
            <a:pPr>
              <a:spcAft>
                <a:spcPts val="700"/>
              </a:spcAft>
              <a:defRPr sz="1700" b="0">
                <a:solidFill>
                  <a:srgbClr val="172C28"/>
                </a:solidFill>
                <a:latin typeface="Arial"/>
              </a:defRPr>
            </a:pPr>
            <a:r>
              <a:t>MediaNews4u / The Helmet Receipt / 7 February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587167"/>
                </a:solidFill>
                <a:latin typeface="Arial"/>
              </a:defRPr>
            </a:pPr>
            <a:r>
              <a:t>Complete URLs and claim limits in CAMPAIGN_REPORT and the research ledger. Sources accessed 14 October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DEEF54"/>
                </a:solidFill>
                <a:latin typeface="Arial"/>
              </a:defRPr>
            </a:pPr>
            <a: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914400"/>
            <a:ext cx="11155680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4900" b="1">
                <a:solidFill>
                  <a:srgbClr val="F2F0E5"/>
                </a:solidFill>
                <a:latin typeface="Arial"/>
              </a:defRPr>
            </a:pPr>
            <a:r>
              <a:t>Two seats.</a:t>
            </a:r>
          </a:p>
          <a:p>
            <a:pPr>
              <a:spcAft>
                <a:spcPts val="100"/>
              </a:spcAft>
              <a:defRPr sz="4900" b="1">
                <a:solidFill>
                  <a:srgbClr val="F2F0E5"/>
                </a:solidFill>
                <a:latin typeface="Arial"/>
              </a:defRPr>
            </a:pPr>
            <a:r>
              <a:t>Two helmets.</a:t>
            </a:r>
          </a:p>
          <a:p>
            <a:pPr>
              <a:spcAft>
                <a:spcPts val="100"/>
              </a:spcAft>
              <a:defRPr sz="4900" b="1">
                <a:solidFill>
                  <a:srgbClr val="F2F0E5"/>
                </a:solidFill>
                <a:latin typeface="Arial"/>
              </a:defRPr>
            </a:pPr>
            <a:r>
              <a:t>Both fastened.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3090672"/>
            <a:ext cx="110642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EEF54"/>
                </a:solidFill>
                <a:latin typeface="Arial"/>
              </a:defRPr>
            </a:pPr>
            <a:r>
              <a:t>The second person is not an afterthought.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0807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F2F0E5"/>
                </a:solidFill>
                <a:latin typeface="Arial"/>
              </a:defRPr>
            </a:pPr>
            <a:r>
              <a:t>THIS SEAT HAS A HEAD. / STUDENT DESIGN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