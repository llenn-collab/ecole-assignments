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400" b="1" i="0">
                <a:solidFill>
                  <a:srgbClr val="1C1A17"/>
                </a:solidFill>
                <a:latin typeface="Georgia"/>
              </a:rPr>
              <a:t>OFF HOURS</a:t>
            </a:r>
          </a:p>
          <a:p>
            <a:pPr>
              <a:spcAft>
                <a:spcPts val="1800"/>
              </a:spcAft>
            </a:pPr>
            <a:r>
              <a:rPr sz="2200" b="0" i="0">
                <a:solidFill>
                  <a:srgbClr val="C2542A"/>
                </a:solidFill>
                <a:latin typeface="Helvetica"/>
              </a:rPr>
              <a:t>Assignment 2 — Content &amp; Social Media Strategy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B6259"/>
                </a:solidFill>
                <a:latin typeface="Helvetica"/>
              </a:rPr>
              <a:t>What begins when work ends.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B6259"/>
                </a:solidFill>
                <a:latin typeface="Helvetica"/>
              </a:rPr>
              <a:t>A continuation of the Assignment 1 deck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B6259"/>
                </a:solidFill>
                <a:latin typeface="Helvetica"/>
              </a:rPr>
              <a:t>Mumbai + Bengaluru · 10-sachet night drink · melatonin-free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120640"/>
            <a:ext cx="310896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6B6259"/>
                </a:solidFill>
                <a:latin typeface="Helvetica"/>
              </a:rPr>
              <a:t>Assignment 2 · Content &amp; Social Media Strategy · submission 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Where we stand — inherited from Assignment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Retention before reach — the 10-night trial is the decision window, not the acquisition vanity metric.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An understated, proof-led launch — the audience is an evidence-seeking wellness sceptic, not a hype audience.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We compete with the habit of not switching off — not with pharmacies.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Deliberately delayed: celebrity blitzes, mass display, TV and print, marketplace-ad dependence, and partnership pushes.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Persona: Meera Nair, 32, Product Manager, Koramangala. Trials first, reads ingredients, cancels in one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1 · Content Marketing Objective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Make Off Hours the brand people go to when the evening won't switch 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Primary — Build awareness of the moment, not of a claim.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6B6259"/>
                </a:solidFill>
                <a:latin typeface="Helvetica"/>
              </a:rPr>
              <a:t>         Recognition of the 10 pm problem comes before any product belief.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Primary — Educate consumers and own the ingredient question.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6B6259"/>
                </a:solidFill>
                <a:latin typeface="Helvetica"/>
              </a:rPr>
              <a:t>         The trust gate for an ingested product is the label; answering it is our right to sell.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Secondary — engagement, community, traffic, conversion support.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6B6259"/>
                </a:solidFill>
                <a:latin typeface="Helvetica"/>
              </a:rPr>
              <a:t>         Each is a means here, not a headline goal.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Why not more? Awareness gives recognition; education gives permission. Everything else is downstream of those two.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2 · Brand Story &amp; Communication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The core idea: a landing, not a pill.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Calm — never urgent, never a countdown. The evening is not a sale to be closed.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Plain-spoken — ingredient answers in ordinary words. No clinical jargon, no wellness poetry.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Evidence-led — show the label, the quantity, the reason. Facts, never feelings.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Quietly warm — as if to one tired person, not to a market.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Sample line: “You don't have a sleep problem. You have a landing problem.”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Never: preachy, alarmist, medical-sounding, countdowns, streaks, competitive sneering.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3 · Content Pillars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Five pillars, each with a function.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705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Pillar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Function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Why Meera cares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Plain Labels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Education &amp; trust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What magnesium glycinate does — in 40 seconds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She reads labels anyway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The Landing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Awareness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10 pm, laptop closed, brain still on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It describes her night exactly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Quiet Proof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Credibility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Unedited testimonials, including lukewarm ones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Evidence beats promises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After Hours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Depth &amp; loyalty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The sleep-journal letter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She wants the long version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We Won't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Differentiation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Six claims we refuse to make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Refusals are believable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43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6B6259"/>
                </a:solidFill>
                <a:latin typeface="Helvetica"/>
              </a:rPr>
              <a:t>Rotation rule: every piece belongs to exactly one pillar. If it doesn't fit a pillar, it doesn't go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4 · Platform Strategy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Three surfaces, chosen on audience behaviour.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05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Platform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Behaviour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Formats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Instagram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Scrolls Reels at 10 pm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Awareness: name the moment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Reels, carousels, Stories Q&amp;A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YouTube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Watches to research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Education: own the ingredient answer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6-8 min long-form + Shorts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WhatsApp + e-mail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Consented, private, read-later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Retention: hold the 10-night window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Plain-text notes, letters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43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6B6259"/>
                </a:solidFill>
                <a:latin typeface="Helvetica"/>
              </a:rPr>
              <a:t>Deliberately not in the plan: TV and print · mass display · celebrity blitzes · marketplace-ad dependence · alarm and outrage formats.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5 · One Idea, Different Platforms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Night 1 of 10 — the first landing.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The idea never changes; only the behaviour does.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Instagram — 25-second landing film: the kitchen at night, laptop closed, no voiceover, one line at the end.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6B6259"/>
                </a:solidFill>
                <a:latin typeface="Helvetica"/>
              </a:rPr>
              <a:t>         She sees it.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YouTube — 6-8 minute explainer plus a 45-second cut: what is in the sachet, plainly, including what it does not do.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6B6259"/>
                </a:solidFill>
                <a:latin typeface="Helvetica"/>
              </a:rPr>
              <a:t>         She understands it.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WhatsApp + e-mail — one plain-text note per night for ten nights; night one asks one question.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6B6259"/>
                </a:solidFill>
                <a:latin typeface="Helvetica"/>
              </a:rPr>
              <a:t>         She lives it.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Every piece points to the next surface. The referral link closes the loop back to discovery.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6 · Content Concepts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Six concepts — idea → pillar → platform → format → objective.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ckup_1_carouse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3147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2040" y="173736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1C1A17"/>
                </a:solidFill>
                <a:latin typeface="Helvetica"/>
              </a:rPr>
              <a:t>Concept 3, “Six things we refuse to say” — carousel slide 2 of 6.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6B6259"/>
                </a:solidFill>
                <a:latin typeface="Helvetica"/>
              </a:rPr>
              <a:t>Design direction: warm off-white ground, one burnt-orange accent, editorial serif headline. No badge, no arrow, no urgency device.</a:t>
            </a:r>
          </a:p>
          <a:p>
            <a:pPr>
              <a:spcAft>
                <a:spcPts val="200"/>
              </a:spcAft>
            </a:pPr>
            <a:r>
              <a:rPr sz="1150" b="1" i="0">
                <a:solidFill>
                  <a:srgbClr val="2A2622"/>
                </a:solidFill>
                <a:latin typeface="Helvetica"/>
              </a:rPr>
              <a:t>1 · What magnesium glycinate actually does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6B6259"/>
                </a:solidFill>
                <a:latin typeface="Helvetica"/>
              </a:rPr>
              <a:t>       Plain Labels · Instagram carousel · education + saves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2 · We read our own label out loud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6B6259"/>
                </a:solidFill>
                <a:latin typeface="Helvetica"/>
              </a:rPr>
              <a:t>       Plain Labels · YouTube long-form · education + trust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3 · Six things we refuse to say about our own product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6B6259"/>
                </a:solidFill>
                <a:latin typeface="Helvetica"/>
              </a:rPr>
              <a:t>       We Won't · Instagram carousel · differentiation + shares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4 · Night 1 of 10 — the landing film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6B6259"/>
                </a:solidFill>
                <a:latin typeface="Helvetica"/>
              </a:rPr>
              <a:t>       The Landing · Instagram Reel · awareness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5 · The shelf — customers' own notes, unranked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6B6259"/>
                </a:solidFill>
                <a:latin typeface="Helvetica"/>
              </a:rPr>
              <a:t>       Quiet Proof · Instagram + private channel · trust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6 · Ask us about the label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6B6259"/>
                </a:solidFill>
                <a:latin typeface="Helvetica"/>
              </a:rPr>
              <a:t>       Plain Labels · Stories Q&amp;A → video · engagement + education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6 · Content Concepts (continued)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Concept 4 — the Reel key frame with timing margin.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ckup_2_reel_story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2398705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73736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1C1A17"/>
                </a:solidFill>
                <a:latin typeface="Helvetica"/>
              </a:rPr>
              <a:t>Shot discipline: one continuous take in a dim kitchen, single lamp source, hands and objects only, no faces; music only in the middle beat.</a:t>
            </a:r>
          </a:p>
          <a:p>
            <a:pPr>
              <a:spcAft>
                <a:spcPts val="200"/>
              </a:spcAft>
            </a:pPr>
            <a:r>
              <a:rPr sz="1150" b="1" i="0">
                <a:solidFill>
                  <a:srgbClr val="2A2622"/>
                </a:solidFill>
                <a:latin typeface="Helvetica"/>
              </a:rPr>
              <a:t>The landing film — storyboard beats</a:t>
            </a:r>
          </a:p>
          <a:p>
            <a:pPr>
              <a:spcAft>
                <a:spcPts val="700"/>
              </a:spcAft>
            </a:pPr>
            <a:r>
              <a:rPr sz="1000" b="0" i="0">
                <a:solidFill>
                  <a:srgbClr val="6B6259"/>
                </a:solidFill>
                <a:latin typeface="Helvetica"/>
              </a:rPr>
              <a:t>       25 seconds, one continuous shot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0-5s  ·  A laptop is closed and pushed aside. Room tone only. No music.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5-15s  ·  A hand sets down one sachet and a glass of warm water. Slow, unhurried.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15-25s  ·  Opened, poured, stirred once. Camera holds; the only text is the last line.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On-screen text at 20-25s: NIGHT 1 OF 10.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2A2622"/>
                </a:solidFill>
                <a:latin typeface="Helvetica"/>
              </a:rPr>
              <a:t>Why 25 seconds: the audience is scrolling at the exact hour the film shows; the idea must land in three seconds and remain saveable for tonight.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7 · Hero Content / Campaign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The 10-Night Landing — the trial window becomes the campaign.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Insight — her problem is not sleep, it is the twenty minutes between closing the laptop and getting to bed.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Big idea — ten nights, ten small pieces, one per night, each a landing rather than a lesson.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Key message — “We're not asking you to sleep earlier. We're asking you to land better.”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Arc — name the moment → answer the question → hold the ten nights → let the proof speak.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Why this hero: it turns the brand's hardest metric, the trial-to-subscription window, into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8 · Community &amp; Engagement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Followers become participants by being asked for something they already give.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Ask-the-coach, answered in public — no question too basic, including the awkward ingredient ones.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The Shelf — customers' own night notes, unranked and unedited. Inclusion, never competition.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Quiet Testimony — reviews in the customer's own words; any edit visibly marked.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The 10-Night Check-in — one private question a night; no scoreboard, no streak to lose.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Refused: competitive challenges and duets · alarm-driven live formats · announcements broadcast through community channels.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9 · Influencer / Creator Strategy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Fit is a teaching-and-trust test, not a reach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70560">
                <a:tc>
                  <a:txBody>
                    <a:bodyPr/>
                    <a:lstStyle/>
                    <a:p/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Creator A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Creator B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Who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Shabbir Ahmed — Sleep Psychologist, Navi Mumbai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Shruti Maheshwari — co-founder, Sleep Gurukul, Mumbai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Credibility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CBT-I practice; author, The Sleep Foundations; MA Psychology; doctoral research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Sleep &amp; wellbeing coach, breath-work; practice recognised at the BW Wellbeing Festival, Mumbai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Audience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Adults seeking behavioural answers, not chemical ones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Indian professionals, metro, breath-work and routine-led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Why fit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The purest carrier of Plain Labels: method-led, explicitly against hacks and unfounded claims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Carries The Landing: teaches the ritual a product cannot demonstrate; India-native practice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Flagship educator: one explainer, one label review, one Q&amp;A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Ritual partner: guided ten-night wind-down series; Phase 2 corporate bridge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43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6B6259"/>
                </a:solidFill>
                <a:latin typeface="Helvetica"/>
              </a:rPr>
              <a:t>Filters first, names second: teaching ratio · private-engagement ratio · reply tone · disclosure comfort. Open checks: category conflicts, disclosure line, Mumbai/Bengaluru audience share.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10 · Two-Week Content Calendar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Ten pieces, four deliberate quiet days.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A1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A17"/>
                          </a:solidFill>
                          <a:latin typeface="Helvetica"/>
                        </a:rPr>
                        <a:t>Platform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A17"/>
                          </a:solidFill>
                          <a:latin typeface="Helvetica"/>
                        </a:rPr>
                        <a:t>Content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A17"/>
                          </a:solidFill>
                          <a:latin typeface="Helvetica"/>
                        </a:rPr>
                        <a:t>Format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A17"/>
                          </a:solidFill>
                          <a:latin typeface="Helvetica"/>
                        </a:rPr>
                        <a:t>Pillar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1 · Mon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YouTube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We read our own label out loud (anchor)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Long-form 7 min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Plain Labels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2 · Tue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Quiet day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3 · Wed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Instagram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What magnesium glycinate actually does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Carousel (5)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Plain Labels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4 · Thu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Instagram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Night 1 of 10 — the landing film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Reel 25s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The Landing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5 · Fri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Instagram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Ask us about the label — weekly answers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Stories Q&amp;A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Plain Labels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6 · Sat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WhatsApp + e-mail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Night 5 check-in: what time did your evening end?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Plain-text note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After Hours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7 · Sun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Quiet day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8 · Mon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YouTube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Why this is not a sleeping pill (anchor)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Long-form 6 min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Plain Labels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9 · Tue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Instagram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Six things we refuse to say about our product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Carousel (6)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We Won't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10 · Wed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Quiet day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11 · Thu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Instagram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The shelf — customers' own night notes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Carousel (6)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Quiet Proof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12 · Fri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Instagram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Short cut of Monday's anchor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Short 45s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Plain Labels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13 · Sat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WhatsApp + e-mail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Night 10: one thing that changed, one that didn't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Note + referral link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Quiet Proof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14 · Sun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Quiet day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2F2B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43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6B6259"/>
                </a:solidFill>
                <a:latin typeface="Helvetica"/>
              </a:rPr>
              <a:t>Cadence rationale: the brand's job is a habit, not a feed. Four quiet days are a decision, not a gap. One anchor and one visual piece per week; paid only amplifies messages already proven organically.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11 · Measurement &amp; Success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Seven metrics, each tied to an objective — one of them negative.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Objective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KPI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Healthy signal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A17"/>
                          </a:solidFill>
                          <a:latin typeface="Helvetica"/>
                        </a:rPr>
                        <a:t>Cadence</a:t>
                      </a:r>
                    </a:p>
                  </a:txBody>
                  <a:tcPr marL="76200" marR="50800" marT="25400" marB="25400" anchor="t">
                    <a:solidFill>
                      <a:srgbClr val="E4DCD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Awareness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Reach: Reels vs search arrivals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Search arrivals grow faster than Reels reach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Monthly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Education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Saves and returns on label explainers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Explainers are the most-saved content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Monthly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Consideration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Completion rate on long-form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The “not a pill” film completes best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Monthly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Trust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Private interactions: saves, DM questions, replies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Private at least equals public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Monthly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Conversion support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Trial starts from discovery and search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Rising, with a healthy source mix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Monthly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Retention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Night-5 and night-10 check-in participation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 meaningful share reply or stay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Every 10 nights</a:t>
                      </a:r>
                    </a:p>
                  </a:txBody>
                  <a:tcPr marL="76200" marR="50800" marT="25400" marB="25400" anchor="t">
                    <a:solidFill>
                      <a:srgbClr val="EFE9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Health (stop signal)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Argument threads and complaint mentions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Flat or falling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2F2B"/>
                          </a:solidFill>
                          <a:latin typeface="Helvetica"/>
                        </a:rPr>
                        <a:t>Monthly</a:t>
                      </a:r>
                    </a:p>
                  </a:txBody>
                  <a:tcPr marL="76200" marR="50800" marT="25400" marB="25400" anchor="t"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43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6B6259"/>
                </a:solidFill>
                <a:latin typeface="Helvetica"/>
              </a:rPr>
              <a:t>Month one: working if saves lead, private responses equal public ones, check-ins are answered and argument threads stay flat. Not working if reach rises while saves stall.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C1A17"/>
                </a:solidFill>
                <a:latin typeface="Georgia"/>
              </a:rPr>
              <a:t>Continuity, risks and what would change our mind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C2542A"/>
                </a:solidFill>
                <a:latin typeface="Helvetica"/>
              </a:rPr>
              <a:t>Every choice here traces back to Assignment 1 — and every risk is named.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2377440" cy="38100"/>
          </a:xfrm>
          <a:prstGeom prst="rect">
            <a:avLst/>
          </a:prstGeom>
          <a:solidFill>
            <a:srgbClr val="C2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Viable alternative on record: an education-first, newsletter-led plan. It is fully compliant; it simply leaves the display surface idle. The margin is narrow (0.84 vs 0.82) and stated.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Risk 1 — the quiet channel is favourable but slow: judge it across a full cycle, not a month.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Risk 2 — restraint can become inaudibility: display content carries reach, and reach is tracked.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Risk 3 — partnership announcements under-deliver in alliance channels: those channels stay two-way.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Risk 4 — creator conflicts and audience geography are unverified: three checks run before contracting.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A2622"/>
                </a:solidFill>
                <a:latin typeface="Helvetica"/>
              </a:rPr>
              <a:t>—  Strategy first. Design second. Every creative decision has a reason — and the reason is always the same: this brand exists to end the day, not to win the feed.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