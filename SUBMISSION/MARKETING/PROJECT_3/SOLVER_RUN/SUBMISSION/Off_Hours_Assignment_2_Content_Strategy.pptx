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5400" b="1" i="0">
                <a:solidFill>
                  <a:srgbClr val="1C1A17"/>
                </a:solidFill>
                <a:latin typeface="Georgia"/>
              </a:rPr>
              <a:t>OFF HOURS</a:t>
            </a:r>
          </a:p>
          <a:p>
            <a:pPr>
              <a:spcAft>
                <a:spcPts val="1800"/>
              </a:spcAft>
            </a:pPr>
            <a:r>
              <a:rPr sz="2200" b="0" i="0">
                <a:solidFill>
                  <a:srgbClr val="C2542A"/>
                </a:solidFill>
                <a:latin typeface="Helvetica"/>
              </a:rPr>
              <a:t>Assignment 2. Content and Social Media Strategy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B6259"/>
                </a:solidFill>
                <a:latin typeface="Helvetica"/>
              </a:rPr>
              <a:t>What begins when work ends.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B6259"/>
                </a:solidFill>
                <a:latin typeface="Helvetica"/>
              </a:rPr>
              <a:t>A continuation of the Assignment 1 deck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B6259"/>
                </a:solidFill>
                <a:latin typeface="Helvetica"/>
              </a:rPr>
              <a:t>Mumbai and Bengaluru · 10-sachet night drink · melatonin-free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120640"/>
            <a:ext cx="3108960" cy="38100"/>
          </a:xfrm>
          <a:prstGeom prst="rect">
            <a:avLst/>
          </a:prstGeom>
          <a:solidFill>
            <a:srgbClr val="C2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6B6259"/>
                </a:solidFill>
                <a:latin typeface="Helvetica"/>
              </a:rPr>
              <a:t>Assignment 2 · Content &amp; Social Media Strategy · submission 5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C1A17"/>
                </a:solidFill>
                <a:latin typeface="Georgia"/>
              </a:rPr>
              <a:t>Where we stand, inherited from Assignment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377440" cy="38100"/>
          </a:xfrm>
          <a:prstGeom prst="rect">
            <a:avLst/>
          </a:prstGeom>
          <a:solidFill>
            <a:srgbClr val="C2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Retention before reach. The 10-night trial is the decision window, not an acquisition vanity metric.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An understated, proof-led launch. The audience is an evidence-seeking wellness sceptic, not a hype audience.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We compete with the habit of not switching off, not with pharmacies.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Deliberately delayed: celebrity blitzes, mass display, TV and print, marketplace-ad dependence, and partnership pushes.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Persona: Meera Nair, 32, Product Manager, Koramangala. Trials first, reads ingredients, cancels in one click.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C1A17"/>
                </a:solidFill>
                <a:latin typeface="Georgia"/>
              </a:rPr>
              <a:t>1 · Content Marketing Objective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C2542A"/>
                </a:solidFill>
                <a:latin typeface="Helvetica"/>
              </a:rPr>
              <a:t>Make Off Hours the brand people turn to when the evening will not switch off.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377440" cy="38100"/>
          </a:xfrm>
          <a:prstGeom prst="rect">
            <a:avLst/>
          </a:prstGeom>
          <a:solidFill>
            <a:srgbClr val="C2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Primary. Build awareness of the moment, not of a claim.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6B6259"/>
                </a:solidFill>
                <a:latin typeface="Helvetica"/>
              </a:rPr>
              <a:t>         Recognition of the 10 pm problem comes before any product belief.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Primary. Educate consumers and own the ingredient question.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6B6259"/>
                </a:solidFill>
                <a:latin typeface="Helvetica"/>
              </a:rPr>
              <a:t>         The trust gate for an ingested product is the label. Answering the question earns the right to sell.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Secondary. Engagement, community, traffic, conversion support.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6B6259"/>
                </a:solidFill>
                <a:latin typeface="Helvetica"/>
              </a:rPr>
              <a:t>         Each is a means here, never a headline goal.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Why not more? Awareness gives recognition. Education gives permission. Everything else is downstream of those two.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C1A17"/>
                </a:solidFill>
                <a:latin typeface="Georgia"/>
              </a:rPr>
              <a:t>2 · Brand Story and Communication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C2542A"/>
                </a:solidFill>
                <a:latin typeface="Helvetica"/>
              </a:rPr>
              <a:t>The core idea: a landing, not a pill.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377440" cy="38100"/>
          </a:xfrm>
          <a:prstGeom prst="rect">
            <a:avLst/>
          </a:prstGeom>
          <a:solidFill>
            <a:srgbClr val="C2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Calm. Never urgent, never a countdown. The evening is not a sale to close.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Plain-spoken. Ingredient answers in ordinary words. No clinical jargon, no wellness poetry.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Evidence-led. Show the label, the quantity, the reason. Facts, never feelings.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Quietly warm. Written to one tired person, not to a market.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Sample line: “You don't have a sleep problem. You have a landing problem.”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Never: preachy, alarmist, medical-sounding, countdowns, streaks, competitive sneering.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C1A17"/>
                </a:solidFill>
                <a:latin typeface="Georgia"/>
              </a:rPr>
              <a:t>3 · Content Pillars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C2542A"/>
                </a:solidFill>
                <a:latin typeface="Helvetica"/>
              </a:rPr>
              <a:t>Five pillars, each with a function.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377440" cy="38100"/>
          </a:xfrm>
          <a:prstGeom prst="rect">
            <a:avLst/>
          </a:prstGeom>
          <a:solidFill>
            <a:srgbClr val="C2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670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A17"/>
                          </a:solidFill>
                          <a:latin typeface="Helvetica"/>
                        </a:rPr>
                        <a:t>Pillar</a:t>
                      </a:r>
                    </a:p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A17"/>
                          </a:solidFill>
                          <a:latin typeface="Helvetica"/>
                        </a:rPr>
                        <a:t>Function</a:t>
                      </a:r>
                    </a:p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A17"/>
                          </a:solidFill>
                          <a:latin typeface="Helvetica"/>
                        </a:rPr>
                        <a:t>Example</a:t>
                      </a:r>
                    </a:p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A17"/>
                          </a:solidFill>
                          <a:latin typeface="Helvetica"/>
                        </a:rPr>
                        <a:t>Why Meera cares</a:t>
                      </a:r>
                    </a:p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Plain Labels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Education and trust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What magnesium glycinate does, in 40 seconds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She reads labels anyway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The Landing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Awareness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10 pm, laptop closed, brain still on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The moment matches her night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Quiet Proof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Credibility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Unedited testimonials, including lukewarm ones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Evidence beats promises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After Hours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Depth and loyalty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The sleep-journal letter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She wants the long version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We Won't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Differentiation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Six claims we refuse to make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Refusals are believable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9436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6B6259"/>
                </a:solidFill>
                <a:latin typeface="Helvetica"/>
              </a:rPr>
              <a:t>Rotation rule: every piece belongs to exactly one pillar. A piece which fits no pillar does not go 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C1A17"/>
                </a:solidFill>
                <a:latin typeface="Georgia"/>
              </a:rPr>
              <a:t>4 · Platform Strategy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C2542A"/>
                </a:solidFill>
                <a:latin typeface="Helvetica"/>
              </a:rPr>
              <a:t>Three surfaces, chosen on audience behaviour.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377440" cy="38100"/>
          </a:xfrm>
          <a:prstGeom prst="rect">
            <a:avLst/>
          </a:prstGeom>
          <a:solidFill>
            <a:srgbClr val="C2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10058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A17"/>
                          </a:solidFill>
                          <a:latin typeface="Helvetica"/>
                        </a:rPr>
                        <a:t>Platform</a:t>
                      </a:r>
                    </a:p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A17"/>
                          </a:solidFill>
                          <a:latin typeface="Helvetica"/>
                        </a:rPr>
                        <a:t>Behaviour</a:t>
                      </a:r>
                    </a:p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A17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A17"/>
                          </a:solidFill>
                          <a:latin typeface="Helvetica"/>
                        </a:rPr>
                        <a:t>Formats</a:t>
                      </a:r>
                    </a:p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Instagram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Scrolls Reels at 10 pm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Awareness: name the moment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Reels, carousels, Stories Q&amp;A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YouTube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Watches to research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Education: own the ingredient answer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6 to 8 min long-form and Shorts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WhatsApp and e-mail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Consented, private, read-later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Retention: hold the 10-night window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Plain-text notes, letters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9436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6B6259"/>
                </a:solidFill>
                <a:latin typeface="Helvetica"/>
              </a:rPr>
              <a:t>Deliberately not in the plan: TV and print · mass display · celebrity blitzes · marketplace-ad dependence · alarm and outrage formats.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C1A17"/>
                </a:solidFill>
                <a:latin typeface="Georgia"/>
              </a:rPr>
              <a:t>5 · One Idea, Different Platforms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C2542A"/>
                </a:solidFill>
                <a:latin typeface="Helvetica"/>
              </a:rPr>
              <a:t>Night 1 of 10, the first landing.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377440" cy="38100"/>
          </a:xfrm>
          <a:prstGeom prst="rect">
            <a:avLst/>
          </a:prstGeom>
          <a:solidFill>
            <a:srgbClr val="C2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The idea never changes. Only the behaviour does.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Instagram. 25-second landing film: the kitchen at night, laptop closed, no voiceover, one line at the end.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6B6259"/>
                </a:solidFill>
                <a:latin typeface="Helvetica"/>
              </a:rPr>
              <a:t>         She sees the landing.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YouTube. 6 to 8 minute explainer plus a 45-second cut: what sits in the sachet, plainly, including what it does not do.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6B6259"/>
                </a:solidFill>
                <a:latin typeface="Helvetica"/>
              </a:rPr>
              <a:t>         She understands the landing.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WhatsApp and e-mail. One plain-text note per night for ten nights. Night one asks one question.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6B6259"/>
                </a:solidFill>
                <a:latin typeface="Helvetica"/>
              </a:rPr>
              <a:t>         She lives the landing.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Every piece points to the next surface. The referral link closes the loop back to discovery.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C1A17"/>
                </a:solidFill>
                <a:latin typeface="Georgia"/>
              </a:rPr>
              <a:t>6 · Content Concepts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C2542A"/>
                </a:solidFill>
                <a:latin typeface="Helvetica"/>
              </a:rPr>
              <a:t>Six concepts, each specified as idea, pillar, platform, format, objective.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377440" cy="38100"/>
          </a:xfrm>
          <a:prstGeom prst="rect">
            <a:avLst/>
          </a:prstGeom>
          <a:solidFill>
            <a:srgbClr val="C2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ckup_1_carousel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33147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92040" y="1737360"/>
            <a:ext cx="67665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 i="0">
                <a:solidFill>
                  <a:srgbClr val="1C1A17"/>
                </a:solidFill>
                <a:latin typeface="Helvetica"/>
              </a:rPr>
              <a:t>Concept 3, “Six things we refuse to say”, carousel slide 2 of 6.</a:t>
            </a:r>
          </a:p>
          <a:p>
            <a:pPr>
              <a:spcAft>
                <a:spcPts val="800"/>
              </a:spcAft>
            </a:pPr>
            <a:r>
              <a:rPr sz="1100" b="0" i="0">
                <a:solidFill>
                  <a:srgbClr val="6B6259"/>
                </a:solidFill>
                <a:latin typeface="Helvetica"/>
              </a:rPr>
              <a:t>Design direction: warm off-white ground, one burnt-orange accent, editorial serif headline. No badge, no arrow, no urgency device.</a:t>
            </a:r>
          </a:p>
          <a:p>
            <a:pPr>
              <a:spcAft>
                <a:spcPts val="200"/>
              </a:spcAft>
            </a:pPr>
            <a:r>
              <a:rPr sz="1150" b="1" i="0">
                <a:solidFill>
                  <a:srgbClr val="2A2622"/>
                </a:solidFill>
                <a:latin typeface="Helvetica"/>
              </a:rPr>
              <a:t>1 · What magnesium glycinate does</a:t>
            </a:r>
          </a:p>
          <a:p>
            <a:pPr>
              <a:spcAft>
                <a:spcPts val="700"/>
              </a:spcAft>
            </a:pPr>
            <a:r>
              <a:rPr sz="1000" b="0" i="0">
                <a:solidFill>
                  <a:srgbClr val="6B6259"/>
                </a:solidFill>
                <a:latin typeface="Helvetica"/>
              </a:rPr>
              <a:t>       Plain Labels · Instagram carousel · education and saves</a:t>
            </a:r>
          </a:p>
          <a:p>
            <a:pPr>
              <a:spcAft>
                <a:spcPts val="200"/>
              </a:spcAft>
            </a:pPr>
            <a:r>
              <a:rPr sz="1150" b="0" i="0">
                <a:solidFill>
                  <a:srgbClr val="2A2622"/>
                </a:solidFill>
                <a:latin typeface="Helvetica"/>
              </a:rPr>
              <a:t>2 · We read our own label out loud</a:t>
            </a:r>
          </a:p>
          <a:p>
            <a:pPr>
              <a:spcAft>
                <a:spcPts val="700"/>
              </a:spcAft>
            </a:pPr>
            <a:r>
              <a:rPr sz="1000" b="0" i="0">
                <a:solidFill>
                  <a:srgbClr val="6B6259"/>
                </a:solidFill>
                <a:latin typeface="Helvetica"/>
              </a:rPr>
              <a:t>       Plain Labels · YouTube long-form · education and trust</a:t>
            </a:r>
          </a:p>
          <a:p>
            <a:pPr>
              <a:spcAft>
                <a:spcPts val="200"/>
              </a:spcAft>
            </a:pPr>
            <a:r>
              <a:rPr sz="1150" b="0" i="0">
                <a:solidFill>
                  <a:srgbClr val="2A2622"/>
                </a:solidFill>
                <a:latin typeface="Helvetica"/>
              </a:rPr>
              <a:t>3 · Six things we refuse to say about our own product</a:t>
            </a:r>
          </a:p>
          <a:p>
            <a:pPr>
              <a:spcAft>
                <a:spcPts val="700"/>
              </a:spcAft>
            </a:pPr>
            <a:r>
              <a:rPr sz="1000" b="0" i="0">
                <a:solidFill>
                  <a:srgbClr val="6B6259"/>
                </a:solidFill>
                <a:latin typeface="Helvetica"/>
              </a:rPr>
              <a:t>       We Won't · Instagram carousel · differentiation and shares</a:t>
            </a:r>
          </a:p>
          <a:p>
            <a:pPr>
              <a:spcAft>
                <a:spcPts val="200"/>
              </a:spcAft>
            </a:pPr>
            <a:r>
              <a:rPr sz="1150" b="0" i="0">
                <a:solidFill>
                  <a:srgbClr val="2A2622"/>
                </a:solidFill>
                <a:latin typeface="Helvetica"/>
              </a:rPr>
              <a:t>4 · Night 1 of 10, the landing film</a:t>
            </a:r>
          </a:p>
          <a:p>
            <a:pPr>
              <a:spcAft>
                <a:spcPts val="700"/>
              </a:spcAft>
            </a:pPr>
            <a:r>
              <a:rPr sz="1000" b="0" i="0">
                <a:solidFill>
                  <a:srgbClr val="6B6259"/>
                </a:solidFill>
                <a:latin typeface="Helvetica"/>
              </a:rPr>
              <a:t>       The Landing · Instagram Reel · awareness</a:t>
            </a:r>
          </a:p>
          <a:p>
            <a:pPr>
              <a:spcAft>
                <a:spcPts val="200"/>
              </a:spcAft>
            </a:pPr>
            <a:r>
              <a:rPr sz="1150" b="0" i="0">
                <a:solidFill>
                  <a:srgbClr val="2A2622"/>
                </a:solidFill>
                <a:latin typeface="Helvetica"/>
              </a:rPr>
              <a:t>5 · The shelf, customers' own notes, unranked</a:t>
            </a:r>
          </a:p>
          <a:p>
            <a:pPr>
              <a:spcAft>
                <a:spcPts val="700"/>
              </a:spcAft>
            </a:pPr>
            <a:r>
              <a:rPr sz="1000" b="0" i="0">
                <a:solidFill>
                  <a:srgbClr val="6B6259"/>
                </a:solidFill>
                <a:latin typeface="Helvetica"/>
              </a:rPr>
              <a:t>       Quiet Proof · Instagram and private channel · trust</a:t>
            </a:r>
          </a:p>
          <a:p>
            <a:pPr>
              <a:spcAft>
                <a:spcPts val="200"/>
              </a:spcAft>
            </a:pPr>
            <a:r>
              <a:rPr sz="1150" b="0" i="0">
                <a:solidFill>
                  <a:srgbClr val="2A2622"/>
                </a:solidFill>
                <a:latin typeface="Helvetica"/>
              </a:rPr>
              <a:t>6 · Ask us about the label</a:t>
            </a:r>
          </a:p>
          <a:p>
            <a:pPr>
              <a:spcAft>
                <a:spcPts val="700"/>
              </a:spcAft>
            </a:pPr>
            <a:r>
              <a:rPr sz="1000" b="0" i="0">
                <a:solidFill>
                  <a:srgbClr val="6B6259"/>
                </a:solidFill>
                <a:latin typeface="Helvetica"/>
              </a:rPr>
              <a:t>       Plain Labels · Stories Q&amp;A to video · engagement and education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C1A17"/>
                </a:solidFill>
                <a:latin typeface="Georgia"/>
              </a:rPr>
              <a:t>6 · Content Concepts (continued)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C2542A"/>
                </a:solidFill>
                <a:latin typeface="Helvetica"/>
              </a:rPr>
              <a:t>Concept 4, the Reel key frame with timing margin.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377440" cy="38100"/>
          </a:xfrm>
          <a:prstGeom prst="rect">
            <a:avLst/>
          </a:prstGeom>
          <a:solidFill>
            <a:srgbClr val="C2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ckup_2_reel_story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45920"/>
            <a:ext cx="2398705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03520" y="1737360"/>
            <a:ext cx="6309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 i="0">
                <a:solidFill>
                  <a:srgbClr val="1C1A17"/>
                </a:solidFill>
                <a:latin typeface="Helvetica"/>
              </a:rPr>
              <a:t>Shot discipline: one continuous take in a dim kitchen, single lamp source, hands and objects only, no faces. Music only in the middle beat.</a:t>
            </a:r>
          </a:p>
          <a:p>
            <a:pPr>
              <a:spcAft>
                <a:spcPts val="200"/>
              </a:spcAft>
            </a:pPr>
            <a:r>
              <a:rPr sz="1150" b="1" i="0">
                <a:solidFill>
                  <a:srgbClr val="2A2622"/>
                </a:solidFill>
                <a:latin typeface="Helvetica"/>
              </a:rPr>
              <a:t>The landing film, storyboard beats</a:t>
            </a:r>
          </a:p>
          <a:p>
            <a:pPr>
              <a:spcAft>
                <a:spcPts val="700"/>
              </a:spcAft>
            </a:pPr>
            <a:r>
              <a:rPr sz="1000" b="0" i="0">
                <a:solidFill>
                  <a:srgbClr val="6B6259"/>
                </a:solidFill>
                <a:latin typeface="Helvetica"/>
              </a:rPr>
              <a:t>       25 seconds, one continuous shot</a:t>
            </a:r>
          </a:p>
          <a:p>
            <a:pPr>
              <a:spcAft>
                <a:spcPts val="200"/>
              </a:spcAft>
            </a:pPr>
            <a:r>
              <a:rPr sz="1150" b="0" i="0">
                <a:solidFill>
                  <a:srgbClr val="2A2622"/>
                </a:solidFill>
                <a:latin typeface="Helvetica"/>
              </a:rPr>
              <a:t>0 to 5s. A laptop is closed and pushed aside. Room tone only. No music.</a:t>
            </a:r>
          </a:p>
          <a:p>
            <a:pPr>
              <a:spcAft>
                <a:spcPts val="200"/>
              </a:spcAft>
            </a:pPr>
            <a:r>
              <a:rPr sz="1150" b="0" i="0">
                <a:solidFill>
                  <a:srgbClr val="2A2622"/>
                </a:solidFill>
                <a:latin typeface="Helvetica"/>
              </a:rPr>
              <a:t>5 to 15s. A hand sets down one sachet and a glass of warm water. Slow, unhurried.</a:t>
            </a:r>
          </a:p>
          <a:p>
            <a:pPr>
              <a:spcAft>
                <a:spcPts val="200"/>
              </a:spcAft>
            </a:pPr>
            <a:r>
              <a:rPr sz="1150" b="0" i="0">
                <a:solidFill>
                  <a:srgbClr val="2A2622"/>
                </a:solidFill>
                <a:latin typeface="Helvetica"/>
              </a:rPr>
              <a:t>15 to 25s. The sachet opens, pours, stirs once. The camera holds. The only text is the last line.</a:t>
            </a:r>
          </a:p>
          <a:p>
            <a:pPr>
              <a:spcAft>
                <a:spcPts val="200"/>
              </a:spcAft>
            </a:pPr>
            <a:r>
              <a:rPr sz="1150" b="0" i="0">
                <a:solidFill>
                  <a:srgbClr val="2A2622"/>
                </a:solidFill>
                <a:latin typeface="Helvetica"/>
              </a:rPr>
              <a:t>On-screen text at 20 to 25s: NIGHT 1 OF 10.</a:t>
            </a:r>
          </a:p>
          <a:p>
            <a:pPr>
              <a:spcAft>
                <a:spcPts val="200"/>
              </a:spcAft>
            </a:pPr>
            <a:r>
              <a:rPr sz="1150" b="0" i="0">
                <a:solidFill>
                  <a:srgbClr val="2A2622"/>
                </a:solidFill>
                <a:latin typeface="Helvetica"/>
              </a:rPr>
              <a:t>Why 25 seconds: the audience is scrolling at the exact hour the film shows. The idea must land in three seconds and stay saveable for tonight.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C1A17"/>
                </a:solidFill>
                <a:latin typeface="Georgia"/>
              </a:rPr>
              <a:t>7 · Hero Content / Campaign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C2542A"/>
                </a:solidFill>
                <a:latin typeface="Helvetica"/>
              </a:rPr>
              <a:t>The 10-Night Landing. The trial window becomes the campaign.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377440" cy="38100"/>
          </a:xfrm>
          <a:prstGeom prst="rect">
            <a:avLst/>
          </a:prstGeom>
          <a:solidFill>
            <a:srgbClr val="C2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Insight. The problem for Meera is not sleep. The problem is the twenty minutes between closing the laptop and reaching bed.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Big idea. Ten nights, ten small pieces, one per night, each a landing rather than a lesson.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Key message. “We are not asking you to sleep earlier. We are asking you to land better.”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Arc. Name the moment, answer the question, hold the ten nights, let the proof speak.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Why this hero: the campaign turns the brand's hardest metric, the trial-to-subscription window, into content.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C1A17"/>
                </a:solidFill>
                <a:latin typeface="Georgia"/>
              </a:rPr>
              <a:t>8 · Community and Engagement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C2542A"/>
                </a:solidFill>
                <a:latin typeface="Helvetica"/>
              </a:rPr>
              <a:t>Followers become participants by answering a question they already answer elsewhere.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377440" cy="38100"/>
          </a:xfrm>
          <a:prstGeom prst="rect">
            <a:avLst/>
          </a:prstGeom>
          <a:solidFill>
            <a:srgbClr val="C2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Ask-the-coach, answered in public. No question too basic, including the awkward ingredient questions.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The Shelf. Customers' own night notes, unranked and unedited. Inclusion, never competition.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Quiet Testimony. Reviews in the customer's own words. Any edit visibly marked.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The 10-Night Check-in. One private question a night. No scoreboard, no streak to lose.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Refused: competitive challenges and duets · alarm-driven live formats · announcements broadcast through community channels.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C1A17"/>
                </a:solidFill>
                <a:latin typeface="Georgia"/>
              </a:rPr>
              <a:t>9 · Influencer / Creator Strategy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C2542A"/>
                </a:solidFill>
                <a:latin typeface="Helvetica"/>
              </a:rPr>
              <a:t>Fit is a teaching-and-trust test, not a reach test.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377440" cy="38100"/>
          </a:xfrm>
          <a:prstGeom prst="rect">
            <a:avLst/>
          </a:prstGeom>
          <a:solidFill>
            <a:srgbClr val="C2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670560">
                <a:tc>
                  <a:txBody>
                    <a:bodyPr/>
                    <a:lstStyle/>
                    <a:p/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A17"/>
                          </a:solidFill>
                          <a:latin typeface="Helvetica"/>
                        </a:rPr>
                        <a:t>Creator A</a:t>
                      </a:r>
                    </a:p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A17"/>
                          </a:solidFill>
                          <a:latin typeface="Helvetica"/>
                        </a:rPr>
                        <a:t>Creator B</a:t>
                      </a:r>
                    </a:p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Who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Shabbir Ahmed, Sleep Psychologist, Navi Mumbai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Shruti Maheshwari, co-founder, Sleep Gurukul, Mumbai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Credibility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CBT-I practice. Author, The Sleep Foundations. MA Psychology. Doctoral research.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Sleep and wellbeing coach, breath-work. Practice recognised at the BW Wellbeing Festival, Mumbai.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Audience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Adults seeking behavioural answers, not chemical ones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Indian professionals, metro, breath-work and routine-led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Why fit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Purest carrier of Plain Labels: method-led, positioned against hacks and unfounded claims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Carries The Landing: teaches the ritual a product will never show. India-native practice.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Flagship educator: one explainer, one label review, one Q&amp;A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Ritual partner: guided ten-night wind-down series. Phase 2 corporate bridge.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9436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6B6259"/>
                </a:solidFill>
                <a:latin typeface="Helvetica"/>
              </a:rPr>
              <a:t>Filters first, names second: teaching ratio · private-engagement ratio · reply tone · disclosure comfort. Open checks: category conflicts, disclosure line, Mumbai and Bengaluru audience share.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C1A17"/>
                </a:solidFill>
                <a:latin typeface="Georgia"/>
              </a:rPr>
              <a:t>10 · Two-Week Content Calendar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C2542A"/>
                </a:solidFill>
                <a:latin typeface="Helvetica"/>
              </a:rPr>
              <a:t>Ten pieces, four deliberate quiet days.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377440" cy="38100"/>
          </a:xfrm>
          <a:prstGeom prst="rect">
            <a:avLst/>
          </a:prstGeom>
          <a:solidFill>
            <a:srgbClr val="C2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2682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A17"/>
                          </a:solidFill>
                          <a:latin typeface="Helvetica"/>
                        </a:rPr>
                        <a:t>Day</a:t>
                      </a:r>
                    </a:p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A17"/>
                          </a:solidFill>
                          <a:latin typeface="Helvetica"/>
                        </a:rPr>
                        <a:t>Platform</a:t>
                      </a:r>
                    </a:p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A17"/>
                          </a:solidFill>
                          <a:latin typeface="Helvetica"/>
                        </a:rPr>
                        <a:t>Content</a:t>
                      </a:r>
                    </a:p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A17"/>
                          </a:solidFill>
                          <a:latin typeface="Helvetica"/>
                        </a:rPr>
                        <a:t>Format</a:t>
                      </a:r>
                    </a:p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A17"/>
                          </a:solidFill>
                          <a:latin typeface="Helvetica"/>
                        </a:rPr>
                        <a:t>Pillar</a:t>
                      </a:r>
                    </a:p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1 · Mon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YouTube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We read our own label out loud (anchor)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Long-form 7 min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Plain Labels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2 · Tue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None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Quiet day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None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None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3 · Wed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Instagram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What magnesium glycinate does, in 40 seconds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Carousel (5)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Plain Labels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4 · Thu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Instagram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Night 1 of 10, the landing film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Reel 25s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The Landing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5 · Fri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Instagram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Ask us about the label, weekly answers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Stories Q&amp;A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Plain Labels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6 · Sat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WhatsApp and e-mail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Night 5 check-in: what time did your evening end?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Plain-text note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After Hours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7 · Sun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None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Quiet day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None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None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8 · Mon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YouTube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Why this is not a sleeping pill (anchor)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Long-form 6 min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Plain Labels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9 · Tue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Instagram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Six things we refuse to say about our product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Carousel (6)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We Won't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10 · Wed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None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Quiet day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None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None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11 · Thu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Instagram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The shelf, customers' own night notes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Carousel (6)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Quiet Proof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12 · Fri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Instagram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Short cut of the Monday anchor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Short 45s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Plain Labels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13 · Sat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WhatsApp and e-mail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Night 10: one thing which changed, one which did not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Note and referral link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Quiet Proof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14 · Sun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None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Quiet day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None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2F2B"/>
                          </a:solidFill>
                          <a:latin typeface="Helvetica"/>
                        </a:rPr>
                        <a:t>None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9436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6B6259"/>
                </a:solidFill>
                <a:latin typeface="Helvetica"/>
              </a:rPr>
              <a:t>Cadence rationale: the brand's job is a habit, not a feed. Four quiet days are a decision, not a gap. One anchor and one visual piece per week. Paid amplifies only messages already proven organically.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C1A17"/>
                </a:solidFill>
                <a:latin typeface="Georgia"/>
              </a:rPr>
              <a:t>11 · Measurement and Success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C2542A"/>
                </a:solidFill>
                <a:latin typeface="Helvetica"/>
              </a:rPr>
              <a:t>Seven metrics, each tied to an objective, and one of them negative.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377440" cy="38100"/>
          </a:xfrm>
          <a:prstGeom prst="rect">
            <a:avLst/>
          </a:prstGeom>
          <a:solidFill>
            <a:srgbClr val="C2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A17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A17"/>
                          </a:solidFill>
                          <a:latin typeface="Helvetica"/>
                        </a:rPr>
                        <a:t>Objective</a:t>
                      </a:r>
                    </a:p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A17"/>
                          </a:solidFill>
                          <a:latin typeface="Helvetica"/>
                        </a:rPr>
                        <a:t>KPI</a:t>
                      </a:r>
                    </a:p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A17"/>
                          </a:solidFill>
                          <a:latin typeface="Helvetica"/>
                        </a:rPr>
                        <a:t>Healthy signal</a:t>
                      </a:r>
                    </a:p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A17"/>
                          </a:solidFill>
                          <a:latin typeface="Helvetica"/>
                        </a:rPr>
                        <a:t>Cadence</a:t>
                      </a:r>
                    </a:p>
                  </a:txBody>
                  <a:tcPr marL="76200" marR="50800" marT="25400" marB="25400" anchor="t">
                    <a:solidFill>
                      <a:srgbClr val="E4DCD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Awareness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Reach: Reels against search arrivals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Search arrivals grow faster than Reels reach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Monthly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Education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Saves and returns on label explainers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Explainers lead the month for saves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Monthly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Consideration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Completion rate on long-form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The “not a pill” film completes best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Monthly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Trust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Private interactions: saves, DM questions, replies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Private at least equals public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Monthly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Conversion support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Trial starts from discovery and search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Rising, with a healthy source mix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Monthly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6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Retention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Night-5 and night-10 check-in participation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A meaningful share reply or stay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Every 10 nights</a:t>
                      </a:r>
                    </a:p>
                  </a:txBody>
                  <a:tcPr marL="76200" marR="50800" marT="25400" marB="25400" anchor="t">
                    <a:solidFill>
                      <a:srgbClr val="EFE9E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7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Health (stop signal)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Argument threads and complaint mentions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Flat or falling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2F2B"/>
                          </a:solidFill>
                          <a:latin typeface="Helvetica"/>
                        </a:rPr>
                        <a:t>Monthly</a:t>
                      </a:r>
                    </a:p>
                  </a:txBody>
                  <a:tcPr marL="76200" marR="50800" marT="25400" marB="25400" anchor="t">
                    <a:solidFill>
                      <a:srgbClr val="F6F2E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9436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6B6259"/>
                </a:solidFill>
                <a:latin typeface="Helvetica"/>
              </a:rPr>
              <a:t>Month one, working when saves lead, private responses match public ones, check-ins receive answers and argument threads stay flat. Not working when reach rises while saves stall.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1C1A17"/>
                </a:solidFill>
                <a:latin typeface="Georgia"/>
              </a:rPr>
              <a:t>Continuity, risks and what would change our mind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C2542A"/>
                </a:solidFill>
                <a:latin typeface="Helvetica"/>
              </a:rPr>
              <a:t>Every choice here traces back to Assignment 1, and every risk is named.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377440" cy="38100"/>
          </a:xfrm>
          <a:prstGeom prst="rect">
            <a:avLst/>
          </a:prstGeom>
          <a:solidFill>
            <a:srgbClr val="C2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Viable alternative on record: an education-first, newsletter-led plan. Fully compliant, and it leaves the display surface idle. The margin is narrow (0.84 against 0.82) and stated.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Risk 1. The quiet channel is favourable but slow. Judge the channel across a full cycle, not a month.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Risk 2. Restraint becomes inaudibility. Display content carries reach, and we track reach.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Risk 3. Partnership announcements under-deliver in alliance channels. Those channels stay two-way.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Risk 4. Creator conflicts and audience geography are unverified. Three checks run before contracting.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2A2622"/>
                </a:solidFill>
                <a:latin typeface="Helvetica"/>
              </a:rPr>
              <a:t>-  Strategy first. Design second. Every creative decision has a reason, and the reason is always the same: this brand exists to end the day, not to win the feed.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